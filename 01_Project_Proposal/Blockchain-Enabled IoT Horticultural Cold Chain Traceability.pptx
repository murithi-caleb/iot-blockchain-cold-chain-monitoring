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A5257A-F648-4B32-9919-8B0402AFFEC2}">
  <a:tblStyle styleId="{73A5257A-F648-4B32-9919-8B0402AFFE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31125" y="675185"/>
            <a:ext cx="95250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5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PROJECT PROPOSAL</a:t>
            </a:r>
            <a:endParaRPr b="1" sz="5400"/>
          </a:p>
        </p:txBody>
      </p:sp>
      <p:sp>
        <p:nvSpPr>
          <p:cNvPr id="86" name="Google Shape;86;p13"/>
          <p:cNvSpPr txBox="1"/>
          <p:nvPr/>
        </p:nvSpPr>
        <p:spPr>
          <a:xfrm>
            <a:off x="1095375" y="1923157"/>
            <a:ext cx="100012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Blockchain-Enabled IoT Traceability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Cold Chain Monitoring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018657"/>
            <a:ext cx="952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For Kenya's Horticultural Export Industry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734817"/>
            <a:ext cx="952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CALEB MURITHI (C026-01-0762/2023)</a:t>
            </a:r>
            <a:endParaRPr b="0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SUPERVISOR: DR. GABRIEL KAMAU</a:t>
            </a:r>
            <a:b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DEDAN KIMATHI UNIVERSITY OF TECHNOLOGY 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524500" y="2619375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575685" y="2943225"/>
            <a:ext cx="504063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Introduction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695700" y="3895725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Background, Research Gaps, &amp; Project Rationale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81300"/>
            <a:ext cx="513397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81300"/>
            <a:ext cx="513397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162050" y="3171825"/>
            <a:ext cx="45705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Economic Importance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62050" y="3714750"/>
            <a:ext cx="43529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Kenya's horticultural industry is a leading foreign exchange earner, exporting flowers, vegetables, and fruits globally.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77025" y="3171825"/>
            <a:ext cx="45705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Perishability Threat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77025" y="3714750"/>
            <a:ext cx="43529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Export viability depends completely on continuous cold storage to prevent degradation during long-distance transit.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Background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of the Study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81300"/>
            <a:ext cx="513397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81300"/>
            <a:ext cx="513397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162050" y="3314700"/>
            <a:ext cx="45705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Fragmented Monitoring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162050" y="3857625"/>
            <a:ext cx="43529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Current systems rely on manual checks, leading to delayed temperature detection and export rejections.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677025" y="3171825"/>
            <a:ext cx="45705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Tampering Vulnerabilities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677025" y="3714750"/>
            <a:ext cx="43529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Centralized paper or digital databases lack transparency and are susceptible to fraudulent quality modifications.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40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81262"/>
            <a:ext cx="335919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481262"/>
            <a:ext cx="335919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481262"/>
            <a:ext cx="3359199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465927" y="3586162"/>
            <a:ext cx="19702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Edge IoT Node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114425" y="4062412"/>
            <a:ext cx="26733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Build an active sensor system for localized temperature &amp; humidity tracking.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085873" y="3586162"/>
            <a:ext cx="20202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Secure Ledger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759374" y="4062412"/>
            <a:ext cx="267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Develop a smart-contract architecture on</a:t>
            </a: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Blockchain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to lock checkpoint logs.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850838" y="3586162"/>
            <a:ext cx="17802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Trace Portal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04324" y="4062412"/>
            <a:ext cx="26733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Implement QR tags to let inspectors instantly trace batch authenticity.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0550" y="2919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9194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4262" y="29194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Research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670" y="2062162"/>
            <a:ext cx="457780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1200" y="1526154"/>
            <a:ext cx="5261525" cy="4155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104900" y="2705100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Sensing Layer: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Live ESP32 nodes sampling conditions.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104900" y="3209925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Off-Chain Storage: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Scalable Firebase telemetry logs.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104900" y="3714750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Blockchain Layer: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Smart Contract state checkpoint locks.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104900" y="4219575"/>
            <a:ext cx="52615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Traceability Portal: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End-user QR scan gateway verification.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1525" y="2686050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3190875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71525" y="3695700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71525" y="4200525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670" y="2062162"/>
            <a:ext cx="457780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2195" y="2071687"/>
            <a:ext cx="4558754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1104900" y="2390775"/>
            <a:ext cx="52615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DHT22 High-Precision Sensors: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Capture continuous data.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104900" y="3209925"/>
            <a:ext cx="52615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ESP32 Microcontroller: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Connects edge to standard networks.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104900" y="4029075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Real-Time Data Engine: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Firebase updates dashboard fast.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104900" y="4533900"/>
            <a:ext cx="52615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Automated Threshold Alarms: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Flags environmental breaches.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71525" y="2371725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3190875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4010025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71525" y="4514850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IoT Sensing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670" y="2062162"/>
            <a:ext cx="457780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2195" y="2071687"/>
            <a:ext cx="4558754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1104900" y="2705100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Polygon Amoy Network: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Low transaction gas fees.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104900" y="3209925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Hash Anchoring: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Checkpoints locked cryptographically.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104900" y="3714750"/>
            <a:ext cx="52615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Traceability QR Engine: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Auto-generates unique print tags.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104900" y="4533900"/>
            <a:ext cx="52615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Immutable Records: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Prevent retrospective data edits.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771525" y="2686050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71525" y="3190875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71525" y="3695700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71525" y="4514850"/>
            <a:ext cx="2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Blockchain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Ledger Strategy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24137"/>
            <a:ext cx="3359199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624137"/>
            <a:ext cx="3359199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624137"/>
            <a:ext cx="3359199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1540936" y="3729037"/>
            <a:ext cx="18202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Firmware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114425" y="4205287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Arduino C++ programming on the ESP32 chip platform.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060870" y="3729037"/>
            <a:ext cx="20702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Contracts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759374" y="4205287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Solidity language engineered via the Hardhat frame.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810833" y="3729037"/>
            <a:ext cx="18602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 Front-End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404324" y="4205287"/>
            <a:ext cx="26733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React dashboard displaying visual chart statistics.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2925" y="30622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76937" y="3062287"/>
            <a:ext cx="238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0449" y="30622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Implementation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Technologies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1847626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616276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384925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0153575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71525" y="3852862"/>
            <a:ext cx="10648950" cy="38100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12957" y="4157662"/>
            <a:ext cx="24598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Jun - Aug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771525" y="4548187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Literature review and system modeling design phases.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3481607" y="2738437"/>
            <a:ext cx="24598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Sep - Oct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3540174" y="3128962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ESP32 hardware assembly &amp; Solidity deployment testing.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250256" y="4157662"/>
            <a:ext cx="24598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Nov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308824" y="4548187"/>
            <a:ext cx="23427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Dashboard interface implementation &amp; integration audits.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018906" y="2738437"/>
            <a:ext cx="24598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Dec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077473" y="3128962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Final system validation, reporting, and defense panel.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Schedule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62162"/>
            <a:ext cx="106489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781050" y="2071687"/>
            <a:ext cx="10629900" cy="3600450"/>
          </a:xfrm>
          <a:prstGeom prst="roundRect">
            <a:avLst>
              <a:gd fmla="val 0" name="adj"/>
            </a:avLst>
          </a:prstGeom>
          <a:solidFill>
            <a:srgbClr val="1C254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3"/>
          <p:cNvGraphicFramePr/>
          <p:nvPr/>
        </p:nvGraphicFramePr>
        <p:xfrm>
          <a:off x="781050" y="20716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{73A5257A-F648-4B32-9919-8B0402AFFEC2}</a:tableStyleId>
              </a:tblPr>
              <a:tblGrid>
                <a:gridCol w="3121825"/>
                <a:gridCol w="5771100"/>
                <a:gridCol w="1736975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Key Items Included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Cost (KES)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32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IoT Sensor Nodes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ESP32 Chip, DHT22 Sensor, Prototyping Wires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KES 4,000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Testing Network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Developer Bandwidth &amp; Cloud DB connections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KES 4,000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Miscellaneous Logistics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Travel &amp; Technical validation reports printing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KES 6,000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Reserve Contingency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Hardware replacements &amp; dynamic components backup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KES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PROJECT BUDGET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Implementation &amp; Prototype Testing Costs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KES 17,000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23"/>
          <p:cNvSpPr/>
          <p:nvPr/>
        </p:nvSpPr>
        <p:spPr>
          <a:xfrm>
            <a:off x="781050" y="2652712"/>
            <a:ext cx="3121818" cy="19050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902868" y="2652712"/>
            <a:ext cx="5771108" cy="19050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9673976" y="2652712"/>
            <a:ext cx="1736973" cy="19050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81050" y="3267075"/>
            <a:ext cx="312181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3902868" y="3267075"/>
            <a:ext cx="577110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9673976" y="3267075"/>
            <a:ext cx="1736973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81050" y="3867150"/>
            <a:ext cx="312181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902868" y="3867150"/>
            <a:ext cx="577110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9673976" y="3867150"/>
            <a:ext cx="1736973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81050" y="4467225"/>
            <a:ext cx="312181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3902868" y="4467225"/>
            <a:ext cx="577110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9673976" y="4467225"/>
            <a:ext cx="1736973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81050" y="5067300"/>
            <a:ext cx="312181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902868" y="5067300"/>
            <a:ext cx="5771108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9673976" y="5067300"/>
            <a:ext cx="1736973" cy="9525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Estimated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Project Budget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325" y="4110037"/>
            <a:ext cx="54673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505301" y="2185987"/>
            <a:ext cx="1118139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771525" y="3357562"/>
            <a:ext cx="10648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Thank you for your valuable time and consideration.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/>
          <p:nvPr/>
        </p:nvSpPr>
        <p:spPr>
          <a:xfrm>
            <a:off x="771525" y="2633662"/>
            <a:ext cx="10648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71525" y="3576637"/>
            <a:ext cx="10648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771525" y="3567112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771525" y="3567112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771525" y="4338637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71525" y="4338637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62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866900" y="2776537"/>
            <a:ext cx="9553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https://sp-ao.shortpixel.ai/client/to_auto,q_glossy,ret_img,w_1100,h_564/https://www.primafelicitas.com/wp-content/uploads/2023/09/Understanding-the-Concept-of-Smart-Agriculture-and-Blockchain-Technology-1100x564.png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866900" y="3195637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www.primafelicitas.com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719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866900" y="3726656"/>
            <a:ext cx="9553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https://stevezafeiriou.com/wp-content/uploads/2024/11/arduino-nano-lcd-dht22-1024x683.jpg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866900" y="3960018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stevezafeiriou.com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491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866900" y="4498181"/>
            <a:ext cx="9553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https://telemetry2u.com/images/applications/dashboards/temperature-dashboard.jpg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866900" y="4731543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telemetry2u.com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